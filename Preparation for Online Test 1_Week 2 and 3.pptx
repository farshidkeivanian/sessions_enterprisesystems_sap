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723" y="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3BBB-F907-4623-65DB-FC3156B63C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4D4CD2-2F0E-4232-0771-6C58ADBC1C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16003-E5BD-FEBA-3F09-15903EFE4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FC939-4E48-422B-85CF-AE5DFF0E5B8E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DAAF6-9D4F-1019-FF4B-B11315968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F9AF1-5889-CBF6-6AEB-C2F585F1C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507A6-8785-483D-BAF4-84DBECC94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095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76708-107A-3241-B99D-8453599E1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9C831-91F0-F852-B92D-B0155B8E7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32821-BCBD-7EB2-5FAF-1D0148354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FC939-4E48-422B-85CF-AE5DFF0E5B8E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06B55-8DC4-5AD8-1F16-0ACBA2C75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4A9B3-319C-81C4-EDD1-5C3BE78C9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507A6-8785-483D-BAF4-84DBECC94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625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A5BA4-8647-3C50-0A76-64A2D1BCA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CB3448-A690-95C9-4301-907A89AAF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AA6B9-DB6A-1DF4-FE6F-B38E9B540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FC939-4E48-422B-85CF-AE5DFF0E5B8E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5BC75-D78C-2078-BC5D-87351D675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2B818-72F9-0944-CC38-7B1677A73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507A6-8785-483D-BAF4-84DBECC94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255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C686F-8892-6282-0A39-3552C0627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16649-0016-2463-CE84-64AFCC2F93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E2178F-F9C8-C924-0056-9F17D93802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F2367C-521A-CFC2-1EF3-83C6626CD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FC939-4E48-422B-85CF-AE5DFF0E5B8E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D15FF2-5DA4-8F78-DCC2-BE0529BA3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CAC27B-DE8E-C3F7-12BD-F20C1E1A5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507A6-8785-483D-BAF4-84DBECC94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357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02FB0-4653-6798-EFCD-B3622FCF8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1AD336-0D48-E2AE-D21D-EFE04B35BA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2C510B-6C93-4C15-3CEA-C9D4EFCF58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C28684-2163-FF93-29BB-C5E87E139A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E4CD54-0510-D2EC-A91E-FBC423E003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0D320A-421D-3383-C89B-AE3DCB65B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FC939-4E48-422B-85CF-AE5DFF0E5B8E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E27931-5194-2885-6D31-45A166765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373AFD-94DE-778F-5291-5E44BB844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507A6-8785-483D-BAF4-84DBECC94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92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CF888-1BCB-F571-E88C-C5940AAB1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A775AE-FAA8-2755-5806-41BE91463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FC939-4E48-422B-85CF-AE5DFF0E5B8E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9937DC-D40E-478F-475A-AF628E2C5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D66E8A-44A4-8153-16F0-A8E881304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507A6-8785-483D-BAF4-84DBECC94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15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FE00FE-7152-CF7D-4CE2-188AC4E5E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FC939-4E48-422B-85CF-AE5DFF0E5B8E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B37CD6-01AC-7FAE-05EC-DC1017CE0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D9B317-8FE8-27EF-7EC5-A5F47263A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507A6-8785-483D-BAF4-84DBECC94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145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BADE7-643A-CECE-ACBA-8FF064621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C176C-E86C-6665-5804-0ECFA2EA8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29C4DA-44AD-97B9-139F-3C79DF54B0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20240-A8CA-CF1A-CA8C-B93863D17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FC939-4E48-422B-85CF-AE5DFF0E5B8E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6AE23-E171-4BFA-FEC1-25E29AF47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A8F3AE-5D0B-C75D-16DE-ABA3075B4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507A6-8785-483D-BAF4-84DBECC94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431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FA6B1-9F43-1496-8502-A0CC9463D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7132AA-6881-A90B-0BCD-D88658778C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929632-03A6-E0ED-8217-0821DA1CF1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C001C9-0B28-BD43-8AE9-4C8A3F0B0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FC939-4E48-422B-85CF-AE5DFF0E5B8E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B1E51E-2E4C-47F7-C0F0-6A1D66B2E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40B6E2-B87C-1D9E-1F44-FBCE5295A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507A6-8785-483D-BAF4-84DBECC94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188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D43B9-BD2B-88C5-BD7A-7E444ADDE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F76E4E-1665-81BD-53B1-538C0052F7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00F943-8C2F-4A39-B4FE-FBA133D13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FC939-4E48-422B-85CF-AE5DFF0E5B8E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CA545-B06D-F09E-FEB0-F97FAA0DC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02BCC-540F-8FC7-2C00-322C12C89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507A6-8785-483D-BAF4-84DBECC94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312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9E605B-39B1-73CA-DBFB-3D22E68461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68D13-B39C-4599-0A9B-2F481DA34A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E1CD6-DE91-F27B-88F4-C4C69056F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FC939-4E48-422B-85CF-AE5DFF0E5B8E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4FB462-01D3-9C97-104A-B2432398B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9724D5-CDEA-BC38-C69A-770BC3399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507A6-8785-483D-BAF4-84DBECC94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040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8D1D20-0084-0FE3-26F8-5A2AEC255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5D3070-A470-C925-5DC3-98EA4CF12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021C6-0776-8AFF-C944-C209AEB2CE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5FC939-4E48-422B-85CF-AE5DFF0E5B8E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606E3-E03F-0807-C17A-A25BC36207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5AAFE-E4E3-B273-DB9F-B221B072DA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D507A6-8785-483D-BAF4-84DBECC94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914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58C80A-61B1-E3FD-99E2-625B7EEC66F6}"/>
              </a:ext>
            </a:extLst>
          </p:cNvPr>
          <p:cNvSpPr txBox="1"/>
          <p:nvPr/>
        </p:nvSpPr>
        <p:spPr>
          <a:xfrm>
            <a:off x="0" y="619432"/>
            <a:ext cx="5954987" cy="2199968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solidFill>
                  <a:srgbClr val="595959"/>
                </a:solidFill>
                <a:latin typeface="Calibir"/>
                <a:ea typeface="+mj-ea"/>
                <a:cs typeface="+mj-cs"/>
              </a:rPr>
              <a:t>HI6034: Enterprise Information Systems</a:t>
            </a:r>
            <a:br>
              <a:rPr lang="en-US" sz="3800" b="1" dirty="0">
                <a:solidFill>
                  <a:srgbClr val="595959"/>
                </a:solidFill>
                <a:latin typeface="Calibir"/>
                <a:ea typeface="+mj-ea"/>
                <a:cs typeface="+mj-cs"/>
              </a:rPr>
            </a:br>
            <a:r>
              <a:rPr lang="en-US" sz="3800" b="1" dirty="0">
                <a:solidFill>
                  <a:srgbClr val="595959"/>
                </a:solidFill>
                <a:latin typeface="Calibir"/>
                <a:ea typeface="+mj-ea"/>
                <a:cs typeface="+mj-cs"/>
              </a:rPr>
              <a:t>Preparation for Online Test 1 (Week 2 and 3)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B0392A-D22F-C20C-A44D-F9E3D906B6F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8" r="24813" b="1"/>
          <a:stretch>
            <a:fillRect/>
          </a:stretch>
        </p:blipFill>
        <p:spPr>
          <a:xfrm>
            <a:off x="5954987" y="73691"/>
            <a:ext cx="4607570" cy="6852948"/>
          </a:xfrm>
          <a:prstGeom prst="rect">
            <a:avLst/>
          </a:prstGeom>
        </p:spPr>
      </p:pic>
      <p:pic>
        <p:nvPicPr>
          <p:cNvPr id="6" name="object 3">
            <a:extLst>
              <a:ext uri="{FF2B5EF4-FFF2-40B4-BE49-F238E27FC236}">
                <a16:creationId xmlns:a16="http://schemas.microsoft.com/office/drawing/2014/main" id="{5AA71B59-8A46-5F90-66ED-C66E07C8DB19}"/>
              </a:ext>
            </a:extLst>
          </p:cNvPr>
          <p:cNvPicPr/>
          <p:nvPr/>
        </p:nvPicPr>
        <p:blipFill>
          <a:blip r:embed="rId3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365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0F853-6397-54CC-F88E-804B971C8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4B3D4BE-5B43-A895-CAB8-571F098173C7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AC40F7-DF22-B155-6634-D8FE978932EF}"/>
              </a:ext>
            </a:extLst>
          </p:cNvPr>
          <p:cNvSpPr txBox="1"/>
          <p:nvPr/>
        </p:nvSpPr>
        <p:spPr>
          <a:xfrm>
            <a:off x="0" y="929149"/>
            <a:ext cx="12192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In SAP S/4HANA, what is the main role of the General Ledger (G/L)?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To track employee attendance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To store all financial transactions in one place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To manage supplier payments only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To list all customer details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8E5E67-2EF9-1C0A-FE62-186CF83CDAEF}"/>
              </a:ext>
            </a:extLst>
          </p:cNvPr>
          <p:cNvSpPr txBox="1"/>
          <p:nvPr/>
        </p:nvSpPr>
        <p:spPr>
          <a:xfrm>
            <a:off x="-1" y="4586471"/>
            <a:ext cx="1219199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The G/L is like the “main book” where all financial data is recorded.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2E0CD5E-9385-2B1A-38EA-6268829E12E3}"/>
              </a:ext>
            </a:extLst>
          </p:cNvPr>
          <p:cNvSpPr/>
          <p:nvPr/>
        </p:nvSpPr>
        <p:spPr>
          <a:xfrm>
            <a:off x="0" y="2344994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615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A8407-2466-3A0D-D0B7-3AD3B04D8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7E5E45A-29F2-47B6-C2E6-F8F3ECA71F47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C438B5-3E7F-A6FE-021C-56BDA717580A}"/>
              </a:ext>
            </a:extLst>
          </p:cNvPr>
          <p:cNvSpPr txBox="1"/>
          <p:nvPr/>
        </p:nvSpPr>
        <p:spPr>
          <a:xfrm>
            <a:off x="0" y="929149"/>
            <a:ext cx="12192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Which item is usually part of a Bill of Materials (BOM)?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 err="1">
                <a:latin typeface="Calibir"/>
              </a:rPr>
              <a:t>Colour</a:t>
            </a:r>
            <a:r>
              <a:rPr lang="en-US" sz="2800" dirty="0">
                <a:latin typeface="Calibir"/>
              </a:rPr>
              <a:t> of the product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Delivery date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Quantity of parts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Customer feedback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2C65AC-90A9-331A-4050-4AA815E80456}"/>
              </a:ext>
            </a:extLst>
          </p:cNvPr>
          <p:cNvSpPr txBox="1"/>
          <p:nvPr/>
        </p:nvSpPr>
        <p:spPr>
          <a:xfrm>
            <a:off x="-1" y="4586471"/>
            <a:ext cx="12191999" cy="1321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A BOM lists the materials needed to make a product, including how many of each item.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E5F2246-F1F3-95CA-5AF7-ED3489BC6633}"/>
              </a:ext>
            </a:extLst>
          </p:cNvPr>
          <p:cNvSpPr/>
          <p:nvPr/>
        </p:nvSpPr>
        <p:spPr>
          <a:xfrm>
            <a:off x="0" y="2920181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903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EA79F-D038-0290-6917-EDBBDA652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717511D-E7CA-3F74-C81A-D86EE5AB9286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20A0E2-797D-3229-85AB-0D166377CB38}"/>
              </a:ext>
            </a:extLst>
          </p:cNvPr>
          <p:cNvSpPr txBox="1"/>
          <p:nvPr/>
        </p:nvSpPr>
        <p:spPr>
          <a:xfrm>
            <a:off x="0" y="929149"/>
            <a:ext cx="121920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SAP S/4HANA can be accessed using both SAP GUI and web-based tools like SAP Fiori.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True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False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91495F-3B5A-BB6A-3D60-49097A97787A}"/>
              </a:ext>
            </a:extLst>
          </p:cNvPr>
          <p:cNvSpPr txBox="1"/>
          <p:nvPr/>
        </p:nvSpPr>
        <p:spPr>
          <a:xfrm>
            <a:off x="-1" y="4586471"/>
            <a:ext cx="12191999" cy="1321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SAP S/4HANA supports modern web interfaces (like Fiori), not just the old SAP GUI.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A29D1A6-8EFC-BEC2-6B7D-659CEE129616}"/>
              </a:ext>
            </a:extLst>
          </p:cNvPr>
          <p:cNvSpPr/>
          <p:nvPr/>
        </p:nvSpPr>
        <p:spPr>
          <a:xfrm>
            <a:off x="-1" y="2219822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979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2D96A-E4FB-9892-2C6D-98B696DAE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035A9C-AADA-C77C-B626-24976BC1DA14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B7BEB-0548-F81A-C43C-2FB287CAC5EE}"/>
              </a:ext>
            </a:extLst>
          </p:cNvPr>
          <p:cNvSpPr txBox="1"/>
          <p:nvPr/>
        </p:nvSpPr>
        <p:spPr>
          <a:xfrm>
            <a:off x="0" y="929149"/>
            <a:ext cx="121920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 General Ledger (G/L) keeps a complete and central record of financial transactions in SAP S/4HANA.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True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False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1FAD88-3016-A184-2002-914698E95BF1}"/>
              </a:ext>
            </a:extLst>
          </p:cNvPr>
          <p:cNvSpPr txBox="1"/>
          <p:nvPr/>
        </p:nvSpPr>
        <p:spPr>
          <a:xfrm>
            <a:off x="-1" y="4586471"/>
            <a:ext cx="12191999" cy="675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All accounting entries eventually go into the G/L.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12A2E32-FF7D-3A1B-0E73-5914D17ADC6B}"/>
              </a:ext>
            </a:extLst>
          </p:cNvPr>
          <p:cNvSpPr/>
          <p:nvPr/>
        </p:nvSpPr>
        <p:spPr>
          <a:xfrm>
            <a:off x="-1" y="2219822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636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08EA5-99E2-453A-B3BB-1966AEDEB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09E0CE-C4B5-FC69-ADED-41B4E55F8B02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C2FD0E-9E08-65B5-C7F0-1A302A776D67}"/>
              </a:ext>
            </a:extLst>
          </p:cNvPr>
          <p:cNvSpPr txBox="1"/>
          <p:nvPr/>
        </p:nvSpPr>
        <p:spPr>
          <a:xfrm>
            <a:off x="0" y="929149"/>
            <a:ext cx="121920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Financial Accounting (FI) in SAP S/4HANA mainly focuses on external reporting (like financial statements).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True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False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9E18BF-0C88-17EF-DDF6-CA5EF9121998}"/>
              </a:ext>
            </a:extLst>
          </p:cNvPr>
          <p:cNvSpPr txBox="1"/>
          <p:nvPr/>
        </p:nvSpPr>
        <p:spPr>
          <a:xfrm>
            <a:off x="-1" y="4586471"/>
            <a:ext cx="1219199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FI is used for reports shared outside the company, like balance sheets.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ECB5517-050A-A0AD-B059-99BFA3C0EDC7}"/>
              </a:ext>
            </a:extLst>
          </p:cNvPr>
          <p:cNvSpPr/>
          <p:nvPr/>
        </p:nvSpPr>
        <p:spPr>
          <a:xfrm>
            <a:off x="-1" y="2219822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43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E0A7B-35C4-12D6-A5A1-C42642112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25D939-0412-6E06-5A69-53B89BDED8CB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77EE2E-33C6-0F8F-8610-F9746023FD16}"/>
              </a:ext>
            </a:extLst>
          </p:cNvPr>
          <p:cNvSpPr txBox="1"/>
          <p:nvPr/>
        </p:nvSpPr>
        <p:spPr>
          <a:xfrm>
            <a:off x="0" y="929149"/>
            <a:ext cx="121920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When recording a Goods Receipt, you need to specify where the goods will be stored.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True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False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E30B09-C84B-71D4-2312-88B9FD4AC9AC}"/>
              </a:ext>
            </a:extLst>
          </p:cNvPr>
          <p:cNvSpPr txBox="1"/>
          <p:nvPr/>
        </p:nvSpPr>
        <p:spPr>
          <a:xfrm>
            <a:off x="-1" y="4586471"/>
            <a:ext cx="1219199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The system needs a storage location to know where items are kept.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41BAE96-4A1E-4E31-0010-90E7ECF780B7}"/>
              </a:ext>
            </a:extLst>
          </p:cNvPr>
          <p:cNvSpPr/>
          <p:nvPr/>
        </p:nvSpPr>
        <p:spPr>
          <a:xfrm>
            <a:off x="-1" y="2219822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545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B487A-37EC-BD83-0946-679ABB3AF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4CE91E4-5F85-51B1-E626-836709E57C41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2ECD40-1634-B08E-1B3B-86431FF2F53B}"/>
              </a:ext>
            </a:extLst>
          </p:cNvPr>
          <p:cNvSpPr txBox="1"/>
          <p:nvPr/>
        </p:nvSpPr>
        <p:spPr>
          <a:xfrm>
            <a:off x="0" y="929149"/>
            <a:ext cx="1219200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 Purchase Order can sometimes be created without a Purchase Requisition.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True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False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1001FC-E9C7-CB03-79D6-7E68991889E7}"/>
              </a:ext>
            </a:extLst>
          </p:cNvPr>
          <p:cNvSpPr txBox="1"/>
          <p:nvPr/>
        </p:nvSpPr>
        <p:spPr>
          <a:xfrm>
            <a:off x="-1" y="4586471"/>
            <a:ext cx="12191999" cy="1321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While often used, a requisition is not always required before creating a PO.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29C7FDB-A4CE-87B1-049E-258E982F39BA}"/>
              </a:ext>
            </a:extLst>
          </p:cNvPr>
          <p:cNvSpPr/>
          <p:nvPr/>
        </p:nvSpPr>
        <p:spPr>
          <a:xfrm>
            <a:off x="-1" y="1648565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392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6421A-84EB-262F-96A7-497DE64FC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0BF1DD-CA2E-97CF-0C82-08EFC0634F9F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F3EBA2-A5DE-6EB2-368A-460EEEE77D61}"/>
              </a:ext>
            </a:extLst>
          </p:cNvPr>
          <p:cNvSpPr txBox="1"/>
          <p:nvPr/>
        </p:nvSpPr>
        <p:spPr>
          <a:xfrm>
            <a:off x="0" y="929149"/>
            <a:ext cx="12192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What is the main purpose of a Goods Receipt in SAP S/4HANA?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To approve vendor payment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To increase stock and record received goods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To create a purchase order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To cancel an order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0A0CFF-F46D-B3DA-3511-015579D16FB2}"/>
              </a:ext>
            </a:extLst>
          </p:cNvPr>
          <p:cNvSpPr txBox="1"/>
          <p:nvPr/>
        </p:nvSpPr>
        <p:spPr>
          <a:xfrm>
            <a:off x="-1" y="4586471"/>
            <a:ext cx="1219199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Goods Receipt updates inventory and confirms items have arrived.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35296E7-DCE4-7933-BD3C-40328BAF462B}"/>
              </a:ext>
            </a:extLst>
          </p:cNvPr>
          <p:cNvSpPr/>
          <p:nvPr/>
        </p:nvSpPr>
        <p:spPr>
          <a:xfrm>
            <a:off x="-1" y="2211149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157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446A0-30F7-DD8E-1A0A-2B5182250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829C0CC-3FD4-2D1C-4BE3-CB559F879CBA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36A200-406C-CC70-F14F-884E6FA1E8CC}"/>
              </a:ext>
            </a:extLst>
          </p:cNvPr>
          <p:cNvSpPr txBox="1"/>
          <p:nvPr/>
        </p:nvSpPr>
        <p:spPr>
          <a:xfrm>
            <a:off x="0" y="929149"/>
            <a:ext cx="12192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Which of the following is important in a Purchase Order?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Marketing Region and Sales Office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Purchasing </a:t>
            </a:r>
            <a:r>
              <a:rPr lang="en-US" sz="2800" dirty="0" err="1">
                <a:latin typeface="Calibir"/>
              </a:rPr>
              <a:t>Organisation</a:t>
            </a:r>
            <a:r>
              <a:rPr lang="en-US" sz="2800" dirty="0">
                <a:latin typeface="Calibir"/>
              </a:rPr>
              <a:t> and Purchasing Group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Plant and Storage Bin only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Company Code and Currency only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BE1C9F-6D10-8A69-CCCB-3845F68A33ED}"/>
              </a:ext>
            </a:extLst>
          </p:cNvPr>
          <p:cNvSpPr txBox="1"/>
          <p:nvPr/>
        </p:nvSpPr>
        <p:spPr>
          <a:xfrm>
            <a:off x="-1" y="4586471"/>
            <a:ext cx="12191999" cy="675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These define who is responsible for buying goods.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0B9E262-277E-D42B-037E-023BCE0AE2C3}"/>
              </a:ext>
            </a:extLst>
          </p:cNvPr>
          <p:cNvSpPr/>
          <p:nvPr/>
        </p:nvSpPr>
        <p:spPr>
          <a:xfrm>
            <a:off x="-1" y="2211149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414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1DCFA-453B-E92A-BEC3-BFB11A9A4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844086-0FA9-5F00-D66F-4D7B43A204BA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B3EB0-C38B-7E4A-1745-7A958FAC541C}"/>
              </a:ext>
            </a:extLst>
          </p:cNvPr>
          <p:cNvSpPr txBox="1"/>
          <p:nvPr/>
        </p:nvSpPr>
        <p:spPr>
          <a:xfrm>
            <a:off x="0" y="929149"/>
            <a:ext cx="1219200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In ERP projects, moving to the next stage usually requires approvals.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True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False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CEBB05-9348-1DAC-0933-4D52015D25B6}"/>
              </a:ext>
            </a:extLst>
          </p:cNvPr>
          <p:cNvSpPr txBox="1"/>
          <p:nvPr/>
        </p:nvSpPr>
        <p:spPr>
          <a:xfrm>
            <a:off x="-1" y="4586471"/>
            <a:ext cx="12191999" cy="1321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Each phase must be approved before continuing to ensure quality and control.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C109D5D-8314-4E16-7233-A0E7785AD2AC}"/>
              </a:ext>
            </a:extLst>
          </p:cNvPr>
          <p:cNvSpPr/>
          <p:nvPr/>
        </p:nvSpPr>
        <p:spPr>
          <a:xfrm>
            <a:off x="-1" y="1647456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387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444</Words>
  <Application>Microsoft Office PowerPoint</Application>
  <PresentationFormat>Widescreen</PresentationFormat>
  <Paragraphs>59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Calibir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Farshid Keivanian</dc:creator>
  <cp:lastModifiedBy>Farshid Keivanian</cp:lastModifiedBy>
  <cp:revision>16</cp:revision>
  <dcterms:created xsi:type="dcterms:W3CDTF">2026-04-08T22:40:06Z</dcterms:created>
  <dcterms:modified xsi:type="dcterms:W3CDTF">2026-04-08T22:51:06Z</dcterms:modified>
</cp:coreProperties>
</file>