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95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3BBB-F907-4623-65DB-FC3156B63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D4CD2-2F0E-4232-0771-6C58ADBC1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6003-E5BD-FEBA-3F09-15903EFE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DAAF6-9D4F-1019-FF4B-B1131596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F9AF1-5889-CBF6-6AEB-C2F585F1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9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6708-107A-3241-B99D-8453599E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C831-91F0-F852-B92D-B0155B8E7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32821-BCBD-7EB2-5FAF-1D014835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06B55-8DC4-5AD8-1F16-0ACBA2C7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4A9B3-319C-81C4-EDD1-5C3BE78C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2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A5BA4-8647-3C50-0A76-64A2D1BCA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B3448-A690-95C9-4301-907A89AAF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AA6B9-DB6A-1DF4-FE6F-B38E9B54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5BC75-D78C-2078-BC5D-87351D67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B818-72F9-0944-CC38-7B1677A7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5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686F-8892-6282-0A39-3552C062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6649-0016-2463-CE84-64AFCC2F9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2178F-F9C8-C924-0056-9F17D9380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2367C-521A-CFC2-1EF3-83C6626C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15FF2-5DA4-8F78-DCC2-BE0529BA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AC27B-DE8E-C3F7-12BD-F20C1E1A5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5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2FB0-4653-6798-EFCD-B3622FCF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AD336-0D48-E2AE-D21D-EFE04B35B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C510B-6C93-4C15-3CEA-C9D4EFCF5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28684-2163-FF93-29BB-C5E87E139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4CD54-0510-D2EC-A91E-FBC423E00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D320A-421D-3383-C89B-AE3DCB65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27931-5194-2885-6D31-45A16676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73AFD-94DE-778F-5291-5E44BB84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CF888-1BCB-F571-E88C-C5940AAB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775AE-FAA8-2755-5806-41BE91463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937DC-D40E-478F-475A-AF628E2C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66E8A-44A4-8153-16F0-A8E88130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E00FE-7152-CF7D-4CE2-188AC4E5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37CD6-01AC-7FAE-05EC-DC1017CE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9B317-8FE8-27EF-7EC5-A5F47263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4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ADE7-643A-CECE-ACBA-8FF064621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C176C-E86C-6665-5804-0ECFA2EA8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9C4DA-44AD-97B9-139F-3C79DF54B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20240-A8CA-CF1A-CA8C-B93863D1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6AE23-E171-4BFA-FEC1-25E29AF4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8F3AE-5D0B-C75D-16DE-ABA3075B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3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A6B1-9F43-1496-8502-A0CC9463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132AA-6881-A90B-0BCD-D88658778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29632-03A6-E0ED-8217-0821DA1CF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001C9-0B28-BD43-8AE9-4C8A3F0B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1E51E-2E4C-47F7-C0F0-6A1D66B2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0B6E2-B87C-1D9E-1F44-FBCE5295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8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D43B9-BD2B-88C5-BD7A-7E444ADD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76E4E-1665-81BD-53B1-538C0052F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0F943-8C2F-4A39-B4FE-FBA133D1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CA545-B06D-F09E-FEB0-F97FAA0D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02BCC-540F-8FC7-2C00-322C12C8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1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9E605B-39B1-73CA-DBFB-3D22E6846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68D13-B39C-4599-0A9B-2F481DA34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E1CD6-DE91-F27B-88F4-C4C69056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FB462-01D3-9C97-104A-B2432398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724D5-CDEA-BC38-C69A-770BC339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4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D1D20-0084-0FE3-26F8-5A2AEC25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D3070-A470-C925-5DC3-98EA4CF12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021C6-0776-8AFF-C944-C209AEB2C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FC939-4E48-422B-85CF-AE5DFF0E5B8E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606E3-E03F-0807-C17A-A25BC3620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AAFE-E4E3-B273-DB9F-B221B072D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1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58C80A-61B1-E3FD-99E2-625B7EEC66F6}"/>
              </a:ext>
            </a:extLst>
          </p:cNvPr>
          <p:cNvSpPr txBox="1"/>
          <p:nvPr/>
        </p:nvSpPr>
        <p:spPr>
          <a:xfrm>
            <a:off x="0" y="619432"/>
            <a:ext cx="5954987" cy="2199968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solidFill>
                  <a:srgbClr val="595959"/>
                </a:solidFill>
                <a:latin typeface="Calibir"/>
                <a:ea typeface="+mj-ea"/>
                <a:cs typeface="+mj-cs"/>
              </a:rPr>
              <a:t>HI6034: Enterprise Information Systems</a:t>
            </a:r>
            <a:br>
              <a:rPr lang="en-US" sz="3800" b="1" dirty="0">
                <a:solidFill>
                  <a:srgbClr val="595959"/>
                </a:solidFill>
                <a:latin typeface="Calibir"/>
                <a:ea typeface="+mj-ea"/>
                <a:cs typeface="+mj-cs"/>
              </a:rPr>
            </a:br>
            <a:r>
              <a:rPr lang="en-US" sz="3800" b="1" dirty="0">
                <a:solidFill>
                  <a:srgbClr val="595959"/>
                </a:solidFill>
                <a:latin typeface="Calibir"/>
                <a:ea typeface="+mj-ea"/>
                <a:cs typeface="+mj-cs"/>
              </a:rPr>
              <a:t>Preparation for Online Test 3 (Week 4 and 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0392A-D22F-C20C-A44D-F9E3D906B6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5954987" y="73691"/>
            <a:ext cx="4607570" cy="6852948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5AA71B59-8A46-5F90-66ED-C66E07C8DB19}"/>
              </a:ext>
            </a:extLst>
          </p:cNvPr>
          <p:cNvPicPr/>
          <p:nvPr/>
        </p:nvPicPr>
        <p:blipFill>
          <a:blip r:embed="rId3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6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0F853-6397-54CC-F88E-804B971C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B3D4BE-5B43-A895-CAB8-571F098173C7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C40F7-DF22-B155-6634-D8FE978932EF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Where are vendors mainly used?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Sales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Finance (FI)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Both Finance and Purchasing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E5E67-2EF9-1C0A-FE62-186CF83CDAEF}"/>
              </a:ext>
            </a:extLst>
          </p:cNvPr>
          <p:cNvSpPr txBox="1"/>
          <p:nvPr/>
        </p:nvSpPr>
        <p:spPr>
          <a:xfrm>
            <a:off x="-1" y="4586471"/>
            <a:ext cx="12191999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/>
              <a:t>Vendors are used when buying goods (purchasing) and when making payments (finance).</a:t>
            </a:r>
            <a:endParaRPr lang="en-US" sz="2800" dirty="0">
              <a:latin typeface="Calibir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E0CD5E-9385-2B1A-38EA-6268829E12E3}"/>
              </a:ext>
            </a:extLst>
          </p:cNvPr>
          <p:cNvSpPr/>
          <p:nvPr/>
        </p:nvSpPr>
        <p:spPr>
          <a:xfrm>
            <a:off x="0" y="3594166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1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03793-0D76-458F-B1F6-866ACD65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8B4F58-CE40-D8EB-64CA-52FE83395EC9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DA894-8BDC-8619-1FB9-F81A16D2638C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step belongs to the Finance (FI) part in purchasing?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 Purchase Order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Record Vendor Payment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Request Quotation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271FC-1799-7E4E-874A-FEAFC6AC5E0B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/>
              <a:t>FI handles money, so paying vendors is part of it.</a:t>
            </a:r>
            <a:endParaRPr lang="en-US" sz="2800" dirty="0">
              <a:latin typeface="Calibir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7D16A3-7169-036E-FB3A-111268DBFDC2}"/>
              </a:ext>
            </a:extLst>
          </p:cNvPr>
          <p:cNvSpPr/>
          <p:nvPr/>
        </p:nvSpPr>
        <p:spPr>
          <a:xfrm>
            <a:off x="-84084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6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1529F-9703-8F4B-6E0C-0AC49CEF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D35B11-3570-EBA8-BF16-2B59EC92EE6B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221B9-F967-72E7-A6DD-9E31FDB2BCDB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statement is correct?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Supplier owns goods until paid fully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Customer owns goods immediately after delivery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None are correct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5121C-308A-22A5-4784-6AB88B340CAC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Ownership often stays with supplier until full payment.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AFDB99-C937-472F-54A7-7E9D75841AE4}"/>
              </a:ext>
            </a:extLst>
          </p:cNvPr>
          <p:cNvSpPr/>
          <p:nvPr/>
        </p:nvSpPr>
        <p:spPr>
          <a:xfrm>
            <a:off x="0" y="1695408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6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EBB0B-1267-EAB9-7C71-762DAD19B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E00628-EE92-16D7-31CC-32D6F9C146CF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2F94B-3924-A50C-4DF2-8D91B180A79C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is the first step in a purchasing process?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 Purchase Order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Check Stock List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Send Invoice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6BEE07-5B04-1B02-349C-E50F0A1574A2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You first check if you need materials.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F284E4-1B8D-E3EB-20E3-7F04A8461FCB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1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B19D0-61EE-1DA0-0363-95CAD972A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354480-1F4D-C4C1-5BCF-A5173A9AA276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4E1F3-A530-295E-7C51-B7DF6E12112F}"/>
              </a:ext>
            </a:extLst>
          </p:cNvPr>
          <p:cNvSpPr txBox="1"/>
          <p:nvPr/>
        </p:nvSpPr>
        <p:spPr>
          <a:xfrm>
            <a:off x="0" y="929149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All materials in stock are free to use.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529B4-1876-4AA0-78F1-150E09A5BA09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Some stock may be restricted or reserved.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370E54-A781-A42E-822B-F17E4215DAFE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8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6BAD-F23C-AD2A-8AC3-FBBD9C43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C21B7B-6A3D-62A3-4492-95E83EB15D3A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2C6BC-05A0-C8AC-E66D-618BF975C5A8}"/>
              </a:ext>
            </a:extLst>
          </p:cNvPr>
          <p:cNvSpPr txBox="1"/>
          <p:nvPr/>
        </p:nvSpPr>
        <p:spPr>
          <a:xfrm>
            <a:off x="0" y="929149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Customer master data only stores basic information.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CF4D9-2B95-4C8C-25F0-6B5A625CCCFE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stores many details like address, payment, and orders.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6C1B54-C1BA-08F4-CA7E-E29B1F723D8E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7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C8D0A-EE1C-D6E0-BC49-AE62B741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AE5C8-0B05-922B-C18E-1BC32341AC7D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8A07D-55BB-6B0C-269E-177669FD7CE4}"/>
              </a:ext>
            </a:extLst>
          </p:cNvPr>
          <p:cNvSpPr txBox="1"/>
          <p:nvPr/>
        </p:nvSpPr>
        <p:spPr>
          <a:xfrm>
            <a:off x="0" y="929149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quotation request forces a supplier to sell.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73154-C0FB-EAE9-F242-CA10AD048FDB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is just asking for prices, not a legal agreement.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95DEC2-0EF2-4A27-D48A-7DAF8E8DD79F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5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1D50-7BD7-029C-FB51-FFDC55A5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CD95E3-F946-93A8-A126-E8E8A740CC63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739EC-389D-2294-DE60-57EA439C38E5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statement is correct?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Goods always belong to customer after delivery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Supplier may still own goods until payment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Both are correct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B4CFB-F5D3-1BFF-00AA-0E9D96CA37EF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Payment completion matters for ownership.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9B5C90-867A-2DD3-34EF-8A8B9973D010}"/>
              </a:ext>
            </a:extLst>
          </p:cNvPr>
          <p:cNvSpPr/>
          <p:nvPr/>
        </p:nvSpPr>
        <p:spPr>
          <a:xfrm>
            <a:off x="0" y="227148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2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1D580-5BA9-FE56-658E-88D9DF24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9B0953-BB68-4F6E-2BE4-96B6394D1BEA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A73C-52EA-2D3E-FEF4-05EB9B79C517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process happens in sales distribution?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 Sales Order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Pay Vendor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 Purchase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7AB1A-6A64-FAE5-5F36-97D25EB2E395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Sales deals with selling to customers.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971FBF-0B08-907B-62FF-B0C42CF38583}"/>
              </a:ext>
            </a:extLst>
          </p:cNvPr>
          <p:cNvSpPr/>
          <p:nvPr/>
        </p:nvSpPr>
        <p:spPr>
          <a:xfrm>
            <a:off x="0" y="1596088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46007-7D82-D86B-C01A-EEC5C0F9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B59B1-C905-4018-105F-DADE261A8B66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259AE-BE21-2CCD-03CE-34B721F0A4E7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is NOT part of a sales document?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Header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Items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Payment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9F6C4-25EB-5632-4A97-C1997E2F7CB6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Sales documents have header and items, not payment systems.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5FD61C-8F03-7B4D-78A8-3C21A75807E4}"/>
              </a:ext>
            </a:extLst>
          </p:cNvPr>
          <p:cNvSpPr/>
          <p:nvPr/>
        </p:nvSpPr>
        <p:spPr>
          <a:xfrm>
            <a:off x="-1" y="2936362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4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BC70-C096-0719-F36B-D9929D2DD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1273C5-C151-34F2-32EF-24B511C30A69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36F93-CC35-2715-2B1C-12558A8B4BB5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does a Purchase Order do?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Requests goods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Confirms buying goods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Pays supplier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E4065-36B0-015D-9E35-2A8849D62EEA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is an official order to a supplier.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380FB3-906E-CFEE-07A2-A2E0D704CB2A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9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D334-3826-73B1-5D12-6213A98A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9A3A19-1C2E-B0E4-5DB8-E694143797C0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1A188-19DD-44BD-756E-6297C933C770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Who creates an invoice?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Customer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Vendor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Warehouse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E01DE0-BA5E-0464-37E9-C8EAE7E954AF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Vendors send invoices to request payment.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730474-1DF3-729F-7157-30AAF467383A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2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BE1A0-57A7-3221-CB52-75A0E380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32D78-7F1A-901E-B810-EE34BA5875C1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ACD9D-65E4-D377-BD58-B3E87CE78666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happens after goods are delivered?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Payment is made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Goods are received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Order is created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1E95F2-CCB9-4004-521C-1220CD12124C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Delivery comes before payment.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367916-E9AE-3715-52AA-F71B93FF4F0B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4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B07F-883C-A103-5279-04ED6A427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0D8B2C-7F18-5C29-1189-15CD1D333064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AE12C-FB81-010A-16A4-D408F3FDEA36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module handles customer orders?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FI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Sales and Distribution (SD)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2FF049-0B49-E12A-9D2F-158AB895B918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SD manages selling processes.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C2E76C-C6F0-6CAA-7CEC-67613396EDBF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7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EF89-00F1-103C-F843-9AFA2E8F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7622C7-01FA-43A8-11AF-097AE9679197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44E40-CB39-08A6-D831-5732407C6953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is a vendor?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buyer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supplier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customer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3A8FA-F30C-E2B2-EBB4-961F8AAA8807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Vendors provide goods or services.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A647F7-7762-A78B-2B70-A1DF0B332FDC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5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0C96-7EB4-FF76-B6F5-35B05DCC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DE18B8-9E01-004F-2626-DE515CE4F94E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4E72D4-D624-6561-F7F1-8242838AB7F7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step comes after quotation?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Purchase Order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Payment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Delivery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7313B-4ED0-D245-CF43-25FC85A3C6EE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After comparing quotes, you place an order.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C8807C-8C69-19A8-5805-4E7756B47B31}"/>
              </a:ext>
            </a:extLst>
          </p:cNvPr>
          <p:cNvSpPr/>
          <p:nvPr/>
        </p:nvSpPr>
        <p:spPr>
          <a:xfrm>
            <a:off x="0" y="1599678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0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56BFF-9EB5-8D50-81BD-93A044672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B2B708-4124-11C7-87E8-AD01F656696B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922F1-A666-7A64-A8E5-2B0462C62869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Goods Issue means: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Receiving goods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Sending goods out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Paying for goods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6B951-2A98-DE35-20A7-71C9E259767D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Goods leave the company.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132FE6-5075-1CD0-A6D6-4076026C94DD}"/>
              </a:ext>
            </a:extLst>
          </p:cNvPr>
          <p:cNvSpPr/>
          <p:nvPr/>
        </p:nvSpPr>
        <p:spPr>
          <a:xfrm>
            <a:off x="0" y="2234570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B839-89AD-F896-1803-3FEB4125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99FF1A-9643-6A12-8E24-91F5E592C5A5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2B53C5-D434-683C-863E-490FE65A4D19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is master data?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Temporary data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Stored important data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Deleted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4F1B8-8D9F-A9BF-AC3E-684D875DF66C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contains long-term information like customers/vendors.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89D286-9A7E-83B4-5792-DEC0D7338577}"/>
              </a:ext>
            </a:extLst>
          </p:cNvPr>
          <p:cNvSpPr/>
          <p:nvPr/>
        </p:nvSpPr>
        <p:spPr>
          <a:xfrm>
            <a:off x="0" y="2234570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4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AFE4-7B5C-67EC-8E4D-5255F6EDB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4E74B7-EA80-91B7-90C6-8A3CF44DF9F7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DFFA6-F301-9A5A-2EB9-54ECE76E9C88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is part of purchasing?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Invoice receipt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Hiring staff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Marketing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71C4C-EFC5-5799-5986-8D66B303109D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Purchasing includes receiving and paying invoices.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9D5586-B665-4919-F04B-79235211BC13}"/>
              </a:ext>
            </a:extLst>
          </p:cNvPr>
          <p:cNvSpPr/>
          <p:nvPr/>
        </p:nvSpPr>
        <p:spPr>
          <a:xfrm>
            <a:off x="-1" y="1599678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9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12F9-685D-83D9-8AD1-F5BE9F41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3A5797-F928-6DF7-8420-580D4EC144F1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E0822-D230-2B84-C743-B3EEEEA102D2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is a quotation?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payment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price offer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 delivery note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BA93E-3332-0E81-EC27-355C09CB0F1C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Vendors give quotations to show prices.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302F17-3DC4-5CDD-0388-A0E4E8ECB8C6}"/>
              </a:ext>
            </a:extLst>
          </p:cNvPr>
          <p:cNvSpPr/>
          <p:nvPr/>
        </p:nvSpPr>
        <p:spPr>
          <a:xfrm>
            <a:off x="0" y="2283220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3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546</Words>
  <Application>Microsoft Office PowerPoint</Application>
  <PresentationFormat>Widescreen</PresentationFormat>
  <Paragraphs>119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26</cp:revision>
  <dcterms:created xsi:type="dcterms:W3CDTF">2026-04-08T22:40:06Z</dcterms:created>
  <dcterms:modified xsi:type="dcterms:W3CDTF">2026-04-15T15:39:17Z</dcterms:modified>
</cp:coreProperties>
</file>